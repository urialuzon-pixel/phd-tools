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AACCFF"/>
                </a:solidFill>
                <a:latin typeface="Arial"/>
              </a:rPr>
              <a:t>הצעת מחקר לדוקטורט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200" b="1">
                <a:solidFill>
                  <a:srgbClr val="FFFFFF"/>
                </a:solidFill>
                <a:latin typeface="Arial"/>
              </a:rPr>
              <a:t>אי-ענישה גיאופוליטית ופעילות כרייה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0">
                <a:solidFill>
                  <a:srgbClr val="CCDDFF"/>
                </a:solidFill>
                <a:latin typeface="Arial"/>
              </a:rPr>
              <a:t>מסגרת היברידית Physics–ML לגילוי אנומליות כרייה בשטחים שנויים במחלוקת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FFFFFF"/>
                </a:solidFill>
                <a:latin typeface="Arial"/>
              </a:rPr>
              <a:t>הגשה פנימית — טיוטה ראשונה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AACCFF"/>
                </a:solidFill>
                <a:latin typeface="Arial"/>
              </a:rPr>
              <a:t>אוריאל אוזון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הבעיה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כאשר שלטון ריבוני שנוי במחלוקת — מנגנוני הפיקוח על הכרייה קורסים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קונפליקט מוביל לאי-אוכלוסייה: תושבים עוזבים, כוחות אכיפה נסוגים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נותרת קרקע עשירה במשאבים עם מינימום התנגדות לכניסה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Lambin &amp; Meyfroidt (2011): לחץ שלטוני מזיז פעילות כרייה לאזורים בעלי פיקוח חלש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שטחים שנויים במחלוקת = קצה הסקאלה של ריקנות שלטונית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Prem et al. (2020): קריסת FARC בקולומביה → גל כרייה בלתי מפוקחת</a:t>
            </a:r>
          </a:p>
          <a:p>
            <a:pPr algn="r" a:rtl="1"/>
            <a:r>
              <a:rPr sz="1700">
                <a:solidFill>
                  <a:srgbClr val="1A376C"/>
                </a:solidFill>
                <a:latin typeface="Arial"/>
              </a:rPr>
              <a:t>הפער: אין מסגרת גילוי שיטתית, סקלאבילית, ובזמן אמת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שאלות המחקר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338560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FFFFFF"/>
                </a:solidFill>
                <a:latin typeface="Arial"/>
              </a:rPr>
              <a:t>RQ0 (ראשית): האם תנאי אי-ענישה גיאופוליטית — קרבה לסכסוכי ריבונות, גירעונות שלטוניים, עוצמת קונפליקט — מנבאים שאריות עכירות חריגות (לוויין מינוס פיזיקה) באגני נהרות שנויים במחלוקת?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RQ1: האם מסגרת Physics-ML היברידית (SWAT + XGBoost/LSTM) מגלה אנומליות כרייה באגנים עם מחסור בנתונים תוך שליטה בשונות הידרולוגית טבעית?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RQ2: האם משתנים גיאופוליטיים (MID/ICOW, מדדי שלטון, ACLED) מוסיפים כוח ניבוי מובהק מעבר למנבאים סביבתיים בלבד?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RQ3: האם מודל משחקי רב-שחקנים מכוייל מתבניות השאריות מעתיק את עיתוי ועוצמת אנומליות הכרייה ההיסטוריות?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החידוש המתודולוגי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56B82"/>
                </a:solidFill>
                <a:latin typeface="Arial"/>
              </a:rPr>
              <a:t>גישות קיימות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Arial"/>
              </a:rPr>
              <a:t>הגישה הזו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>
                <a:solidFill>
                  <a:srgbClr val="556B82"/>
                </a:solidFill>
                <a:latin typeface="Arial"/>
              </a:rPr>
              <a:t>× סיווג כיסוי קרקע / זיהוי שינוי</a:t>
            </a:r>
          </a:p>
          <a:p>
            <a:pPr algn="r" a:rtl="1"/>
            <a:r>
              <a:rPr sz="1500">
                <a:solidFill>
                  <a:srgbClr val="556B82"/>
                </a:solidFill>
                <a:latin typeface="Arial"/>
              </a:rPr>
              <a:t>× קו בסיס שרירותי</a:t>
            </a:r>
          </a:p>
          <a:p>
            <a:pPr algn="r" a:rtl="1"/>
            <a:r>
              <a:rPr sz="1500">
                <a:solidFill>
                  <a:srgbClr val="556B82"/>
                </a:solidFill>
                <a:latin typeface="Arial"/>
              </a:rPr>
              <a:t>× ללא הקשר גיאופוליטי</a:t>
            </a:r>
          </a:p>
          <a:p>
            <a:pPr algn="r" a:rtl="1"/>
            <a:r>
              <a:rPr sz="1500">
                <a:solidFill>
                  <a:srgbClr val="556B82"/>
                </a:solidFill>
                <a:latin typeface="Arial"/>
              </a:rPr>
              <a:t>× ללא זיהוי סיבתי</a:t>
            </a:r>
          </a:p>
          <a:p>
            <a:pPr algn="r" a:rtl="1"/>
            <a:r>
              <a:rPr sz="1500">
                <a:solidFill>
                  <a:srgbClr val="556B82"/>
                </a:solidFill>
                <a:latin typeface="Arial"/>
              </a:rPr>
              <a:t>× מטריצת תמורות מונחה הנחות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✓ שארית מכוילת פיזיקלית כאות גילוי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✓ SWAT כנגד-עובדה מדוד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✓ משתנים שלטוניים וקונפליקט כמנבאים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✓ DiD מדורג לזיהוי סיבתי</a:t>
            </a:r>
          </a:p>
          <a:p>
            <a:pPr algn="r" a:rtl="1"/>
            <a:r>
              <a:rPr sz="1500">
                <a:solidFill>
                  <a:srgbClr val="1A376C"/>
                </a:solidFill>
                <a:latin typeface="Arial"/>
              </a:rPr>
              <a:t>✓ מטריצת תמורות מהאות הלוויין עצמו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1133856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1A376C"/>
                </a:solidFill>
                <a:latin typeface="Arial"/>
              </a:rPr>
              <a:t>ההבחנה המרכזית: במקום לסווג כרייה, אנו מודדים חריגה מקו בסיס פיזיקלי — מה שהופך את האנומליה לפרשנית ביחידות פיזיקליות ועמידה בפני בלבולים סביבתיים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הצינור האנליטי: 6 שלבים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קו בסיס פיזיקלי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מודל SWAT → צפי SSC יומי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תצפית לוויינית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7128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Sentinel-2 NDTI → עכירות נצפית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4216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6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6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חישוב שאריות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6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6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נצפה מינוס צפוי, מנורמל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61304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מנבא 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61304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XGBoost + LSTM: סביבתי בלבד vs. + גיאופוליטי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08392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ולידציה סיבתית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08392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DiD מדורג: הסלמה כטיפול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1325880"/>
            <a:ext cx="1645920" cy="8686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Arial"/>
              </a:rPr>
              <a:t>מודל תיאורטי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2267712"/>
            <a:ext cx="164592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>
                <a:solidFill>
                  <a:srgbClr val="1A376C"/>
                </a:solidFill>
                <a:latin typeface="Arial"/>
              </a:rPr>
              <a:t>משחק רב-שחקנים מכוייל מהנתונים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06240"/>
            <a:ext cx="1133856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>
                <a:solidFill>
                  <a:srgbClr val="FFFFFF"/>
                </a:solidFill>
                <a:latin typeface="Arial"/>
              </a:rPr>
              <a:t>שלבים 1–3: אות הגילוי  |  שלבים 4–5: מבנה הסברתי וסיבתי  |  שלב 6: מודל מנגנוני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1A376C"/>
                </a:solidFill>
                <a:latin typeface="Arial"/>
              </a:rPr>
              <a:t>עיקרון מנחה: השארית הפיזיקלית (שלב 3) היא האות המרכזי — כל השאר בונה עליה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556B82"/>
                </a:solidFill>
                <a:latin typeface="Arial"/>
              </a:rPr>
              <a:t>יתרון מרכזי: ללא תלות בנתוני מד-מים פנימיים — חיוני לאגנים שנויים במחלוקת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ייחוד התרומה — שלוש קהילות מחקר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640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07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חישה מרחוק
וגילוי כרייה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3566160" cy="4480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גילוי ראשון המשתמש
בשארית מכוילת פיזיקלית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לא רק סיווג — אנומליה
ביחידות פיזיקליות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חסין לבלבולים
סביבתיים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88720"/>
            <a:ext cx="35661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207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ML פיזיקלי
להידרולוגיה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874519"/>
            <a:ext cx="3566160" cy="4480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96596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ראשון להכניס
משתני שלטון/קונפליקט
כמנבאים לשאריות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SHAP מזהה תרומה
מוסף של ההקשר הפוליטי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מחיל DiD מדורג
על תוצאה רציפה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188720"/>
            <a:ext cx="3566160" cy="640080"/>
          </a:xfrm>
          <a:prstGeom prst="rect">
            <a:avLst/>
          </a:prstGeom>
          <a:solidFill>
            <a:srgbClr val="176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207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>
                <a:solidFill>
                  <a:srgbClr val="FFFFFF"/>
                </a:solidFill>
                <a:latin typeface="Arial"/>
              </a:rPr>
              <a:t>כלכלה פוליטית
של כרייה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74519"/>
            <a:ext cx="3566160" cy="4480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96596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ראשון לכייל מטריצת
תמורות משחקית
מאות לוויין פיזיקלי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מגשר בין
חישה מרחוק ו-IR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✓ מאפשר תרחישי
סיכון עתידיים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מקורות נתונים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16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Arial"/>
              </a:rPr>
              <a:t>לוויין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2743200" cy="4206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Sentinel-2 MSI (ESA)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10 מטר, 5 ימים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NDTI דרך Google Earth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18872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1216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Arial"/>
              </a:rPr>
              <a:t>הידרולוגיה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737360"/>
            <a:ext cx="2743200" cy="4206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82880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SRTM DEM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FAO soil + Copernicus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ERA5 climate reanalysis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ללא תלות במד-מים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118872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216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Arial"/>
              </a:rPr>
              <a:t>גיאופוליטיקה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1737360"/>
            <a:ext cx="2743200" cy="4206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2880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MID — סכסוכים בינמדינתיים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ICOW — תביעות טריטוריאליות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ACLED — אירועי קונפליקט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World Governance Indicators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17736" y="1188720"/>
            <a:ext cx="2743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7736" y="1216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Arial"/>
              </a:rPr>
              <a:t>גיאולוגיה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17736" y="1737360"/>
            <a:ext cx="2743200" cy="4206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182880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BGS World Mineral Statistics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USGS mineral assessments</a:t>
            </a:r>
          </a:p>
          <a:p>
            <a:pPr algn="r" a:rtl="1"/>
            <a:r>
              <a:rPr sz="1400">
                <a:solidFill>
                  <a:srgbClr val="1A376C"/>
                </a:solidFill>
                <a:latin typeface="Arial"/>
              </a:rPr>
              <a:t>כמשתנה כלי לאנדוגניות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בחירת מקרי הבוחן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קריטריונים לבחירה: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מיקסום שונות בסוג הסכסוך, משטר השלטון, עושר מינרלי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עמידה בסף Sentinel-2: כיסוי עננים &lt; 40% מהחודשים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זמינות נתוני ACLED/MID מקבילים (עם תאריכי הסלמה ספציפיים)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/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אזורים מועמדים: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אגן האמזונס — סכסוכי גבול, כרייה שלא ברישיון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מסדרון הסאהל — ריבונות חלשה, משאבים מינרליים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  • דרום-מזרח אסיה — שטחים שנויים במחלוקת, פעילות כרייה</a:t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/>
            </a:r>
          </a:p>
          <a:p>
            <a:pPr algn="r" a:rtl="1"/>
            <a:r>
              <a:rPr sz="1600">
                <a:solidFill>
                  <a:srgbClr val="1A376C"/>
                </a:solidFill>
                <a:latin typeface="Arial"/>
              </a:rPr>
              <a:t>בחירה סופית: בהמשך לביקורת זמינות נתונים — שנה ראשונה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>
                <a:solidFill>
                  <a:srgbClr val="FFFFFF"/>
                </a:solidFill>
                <a:latin typeface="Arial"/>
              </a:rPr>
              <a:t>לוח זמנים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7040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1 — ס׳ א׳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בחירת מקרים + ביקורת נתונים; הגדרת SWAT ל-2-3 אגנים; צינור GEE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84248"/>
            <a:ext cx="116128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21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1 — ס׳ ב׳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חישוב NDTI וסדרות זמן שאריות (שלבים 2-3); מפות אנומליה ראשוניות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34056"/>
            <a:ext cx="11612880" cy="7040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87121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2 — ס׳ א׳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מנבא ML (שלב 4): XGBoost + LSTM; שילוב משתנים גיאופוליטיים; SHAP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83864"/>
            <a:ext cx="116128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6210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2 — ס׳ ב׳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ולידציה סיבתית (שלב 5): DiD מדורג; הרחבה לכלל האגנים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33672"/>
            <a:ext cx="11612880" cy="70408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708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3 — ס׳ א׳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מודל תיאורטי (שלב 6): ספציפיקציה, כיול, ניתוח שיווי משקל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83480"/>
            <a:ext cx="116128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>
                <a:solidFill>
                  <a:srgbClr val="2E86C1"/>
                </a:solidFill>
                <a:latin typeface="Arial"/>
              </a:rPr>
              <a:t>שנה 3 — ס׳ ב׳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>
                <a:solidFill>
                  <a:srgbClr val="1A376C"/>
                </a:solidFill>
                <a:latin typeface="Arial"/>
              </a:rPr>
              <a:t>אינטגרציה; עיבוד; פרסום מדיניות; שחרור קוד פתוח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>
                <a:solidFill>
                  <a:srgbClr val="FFFFFF"/>
                </a:solidFill>
                <a:latin typeface="Arial"/>
              </a:rPr>
              <a:t>שאלות פתוחות וסיכונים — לדיון עם המנחה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זיהוי סיבתי: האם קיימת מספיק שונות בתאריכי ההסלמה לחוזק DiD מדורג?</a:t>
            </a:r>
          </a:p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סיבתיות הפוכה: האם כרייה גוררת קונפליקט, ולא רק להיפך?</a:t>
            </a:r>
          </a:p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תוקף חיצוני: האם 3 אזורים מספיקים לכלליות?</a:t>
            </a:r>
          </a:p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מדידה גיאופוליטית: ACLED/MID לוכד את הריקנות השלטונית הרלוונטית?</a:t>
            </a:r>
          </a:p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סיכון שלב 6: האם מודל משחקים תלוי בהצלחת שלבים 1-5 — מה הסיכון המצטבר?</a:t>
            </a:r>
          </a:p>
          <a:p>
            <a:pPr algn="r" a:rtl="1"/>
            <a:r>
              <a:rPr sz="1600">
                <a:solidFill>
                  <a:srgbClr val="FFFFFF"/>
                </a:solidFill>
                <a:latin typeface="Arial"/>
              </a:rPr>
              <a:t>? הגדרת אנומליה: מהו הסף המינימלי לכרייה 'אמיתית' לעומת רעש טבעי?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